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685800"/>
            <a:ext cx="1219169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CODE2CREATE 7.0 · HACKATHON SUBMISSION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0" y="1417320"/>
            <a:ext cx="12191695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400" b="1" spc="100" kern="0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1340968" y="2395728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Efficient Multi-Agent LLM Inference on Ultra-Constrained Edge Hardware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4852264" y="3419856"/>
            <a:ext cx="566928" cy="5669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6" name="Text 4"/>
          <p:cNvSpPr/>
          <p:nvPr/>
        </p:nvSpPr>
        <p:spPr>
          <a:xfrm>
            <a:off x="4852264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812384" y="3419856"/>
            <a:ext cx="566928" cy="5669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5812384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772504" y="3419856"/>
            <a:ext cx="566928" cy="566928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0" name="Text 8"/>
          <p:cNvSpPr/>
          <p:nvPr/>
        </p:nvSpPr>
        <p:spPr>
          <a:xfrm>
            <a:off x="6772504" y="341985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809848" y="404164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5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MULTIPLE SPECIALIZED AGENTS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76976" y="4407408"/>
            <a:ext cx="237744" cy="273406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4358488" y="4709160"/>
            <a:ext cx="3474720" cy="548640"/>
          </a:xfrm>
          <a:prstGeom prst="roundRect">
            <a:avLst>
              <a:gd name="adj" fmla="val 20000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4431640" y="4709160"/>
            <a:ext cx="3328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5976976" y="5358384"/>
            <a:ext cx="237744" cy="273406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16" name="Shape 14"/>
          <p:cNvSpPr/>
          <p:nvPr/>
        </p:nvSpPr>
        <p:spPr>
          <a:xfrm>
            <a:off x="4358488" y="5650992"/>
            <a:ext cx="3474720" cy="502920"/>
          </a:xfrm>
          <a:prstGeom prst="roundRect">
            <a:avLst>
              <a:gd name="adj" fmla="val 21818"/>
            </a:avLst>
          </a:prstGeom>
          <a:solidFill>
            <a:srgbClr val="1E3A8A"/>
          </a:solidFill>
          <a:ln/>
        </p:spPr>
      </p:sp>
      <p:sp>
        <p:nvSpPr>
          <p:cNvPr id="17" name="Text 15"/>
          <p:cNvSpPr/>
          <p:nvPr/>
        </p:nvSpPr>
        <p:spPr>
          <a:xfrm>
            <a:off x="4431640" y="5650992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GPU  ·  &lt; 4 GB VRAM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/ 14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Problem: AI Agents Break Edge Hardware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workflows generate concurrent inference requests that amplify memory pressure and latency.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3352648" y="17830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5" name="Text 3"/>
          <p:cNvSpPr/>
          <p:nvPr/>
        </p:nvSpPr>
        <p:spPr>
          <a:xfrm>
            <a:off x="335264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3032608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541368" y="17830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454136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221328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730088" y="17830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573008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10048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6918808" y="17830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691880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598768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Debugger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107528" y="1783080"/>
            <a:ext cx="731520" cy="731520"/>
          </a:xfrm>
          <a:prstGeom prst="ellipse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8107528" y="178308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7787488" y="25694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976976" y="2907792"/>
            <a:ext cx="237744" cy="273406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20" name="Text 18"/>
          <p:cNvSpPr/>
          <p:nvPr/>
        </p:nvSpPr>
        <p:spPr>
          <a:xfrm>
            <a:off x="3535528" y="31455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Inference Requests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76976" y="3438144"/>
            <a:ext cx="237744" cy="273406"/>
          </a:xfrm>
          <a:prstGeom prst="downArrow">
            <a:avLst/>
          </a:prstGeom>
          <a:solidFill>
            <a:srgbClr val="EA580C"/>
          </a:solidFill>
          <a:ln/>
        </p:spPr>
      </p:sp>
      <p:sp>
        <p:nvSpPr>
          <p:cNvPr id="22" name="Shape 20"/>
          <p:cNvSpPr/>
          <p:nvPr/>
        </p:nvSpPr>
        <p:spPr>
          <a:xfrm>
            <a:off x="3992728" y="3703320"/>
            <a:ext cx="4206240" cy="960120"/>
          </a:xfrm>
          <a:prstGeom prst="roundRect">
            <a:avLst>
              <a:gd name="adj" fmla="val 11429"/>
            </a:avLst>
          </a:prstGeom>
          <a:solidFill>
            <a:srgbClr val="FFEDD5"/>
          </a:solidFill>
          <a:ln w="2540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065880" y="3739896"/>
            <a:ext cx="4059936" cy="8869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34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&lt; 4 GB VRAM</a:t>
            </a:r>
            <a:endParaRPr lang="en-US" sz="340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AVAILABLE EDGE GPU MEMORY</a:t>
            </a:r>
            <a:endParaRPr lang="en-US" sz="3400" dirty="0"/>
          </a:p>
        </p:txBody>
      </p:sp>
      <p:sp>
        <p:nvSpPr>
          <p:cNvPr id="24" name="Shape 22"/>
          <p:cNvSpPr/>
          <p:nvPr/>
        </p:nvSpPr>
        <p:spPr>
          <a:xfrm>
            <a:off x="5976976" y="4773168"/>
            <a:ext cx="237744" cy="273406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2598268" y="513892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71420" y="513892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PRESSURE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5021428" y="513892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94580" y="513892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QUEUEING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7444588" y="5138928"/>
            <a:ext cx="2148840" cy="502920"/>
          </a:xfrm>
          <a:prstGeom prst="roundRect">
            <a:avLst>
              <a:gd name="adj" fmla="val 18182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517740" y="5138928"/>
            <a:ext cx="2002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RISK</a:t>
            </a:r>
            <a:endParaRPr lang="en-US" sz="1250" dirty="0"/>
          </a:p>
        </p:txBody>
      </p:sp>
      <p:sp>
        <p:nvSpPr>
          <p:cNvPr id="31" name="Text 29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Naive Local Inference Breaks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137160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VRAM COMPOSITION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1234440" y="4114800"/>
            <a:ext cx="1554480" cy="960120"/>
          </a:xfrm>
          <a:prstGeom prst="rect">
            <a:avLst/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34440" y="3657600"/>
            <a:ext cx="1554480" cy="45720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234440" y="3218688"/>
            <a:ext cx="1554480" cy="438912"/>
          </a:xfrm>
          <a:prstGeom prst="rect">
            <a:avLst/>
          </a:prstGeom>
          <a:solidFill>
            <a:srgbClr val="14B8A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234440" y="2798064"/>
            <a:ext cx="1554480" cy="420624"/>
          </a:xfrm>
          <a:prstGeom prst="rect">
            <a:avLst/>
          </a:prstGeom>
          <a:solidFill>
            <a:srgbClr val="5EEAD4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234440" y="2414016"/>
            <a:ext cx="1554480" cy="384048"/>
          </a:xfrm>
          <a:prstGeom prst="rect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234440" y="2029968"/>
            <a:ext cx="1554480" cy="384048"/>
          </a:xfrm>
          <a:prstGeom prst="rect">
            <a:avLst/>
          </a:prstGeom>
          <a:solidFill>
            <a:srgbClr val="DC262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24712" y="2414016"/>
            <a:ext cx="1773936" cy="9144"/>
          </a:xfrm>
          <a:prstGeom prst="line">
            <a:avLst/>
          </a:prstGeom>
          <a:noFill/>
          <a:ln w="22225">
            <a:solidFill>
              <a:srgbClr val="0F172A"/>
            </a:solidFill>
            <a:prstDash val="dash"/>
          </a:ln>
        </p:spPr>
      </p:sp>
      <p:sp>
        <p:nvSpPr>
          <p:cNvPr id="11" name="Text 9"/>
          <p:cNvSpPr/>
          <p:nvPr/>
        </p:nvSpPr>
        <p:spPr>
          <a:xfrm>
            <a:off x="1188720" y="173736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GB BUDGET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26080" y="2084832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Overflow — exceeds budget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2926080" y="445770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2926080" y="374904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1 KV Cache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2926080" y="3300984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2 KV Cache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2926080" y="2871216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3 KV Cache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2926080" y="2468880"/>
            <a:ext cx="2651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 / Buffers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903720" y="148132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HEAD-OF-LINE BLOCKING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903720" y="1874520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976872" y="1874520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LONG REQUEST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8439912" y="2450592"/>
            <a:ext cx="219456" cy="252374"/>
          </a:xfrm>
          <a:prstGeom prst="downArrow">
            <a:avLst/>
          </a:prstGeom>
          <a:solidFill>
            <a:srgbClr val="EA580C"/>
          </a:solidFill>
          <a:ln/>
        </p:spPr>
      </p:sp>
      <p:sp>
        <p:nvSpPr>
          <p:cNvPr id="22" name="Shape 20"/>
          <p:cNvSpPr/>
          <p:nvPr/>
        </p:nvSpPr>
        <p:spPr>
          <a:xfrm>
            <a:off x="6903720" y="2724912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FEDD5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976872" y="2724912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439912" y="3300984"/>
            <a:ext cx="219456" cy="252374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25" name="Shape 23"/>
          <p:cNvSpPr/>
          <p:nvPr/>
        </p:nvSpPr>
        <p:spPr>
          <a:xfrm>
            <a:off x="6903720" y="3575304"/>
            <a:ext cx="3291840" cy="502920"/>
          </a:xfrm>
          <a:prstGeom prst="roundRect">
            <a:avLst>
              <a:gd name="adj" fmla="val 14545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976872" y="3575304"/>
            <a:ext cx="31455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DC26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OTHER AGENTS WAIT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7214616" y="4242816"/>
            <a:ext cx="384048" cy="38404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28" name="Text 26"/>
          <p:cNvSpPr/>
          <p:nvPr/>
        </p:nvSpPr>
        <p:spPr>
          <a:xfrm>
            <a:off x="7214616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29" name="Shape 27"/>
          <p:cNvSpPr/>
          <p:nvPr/>
        </p:nvSpPr>
        <p:spPr>
          <a:xfrm>
            <a:off x="8357616" y="4242816"/>
            <a:ext cx="384048" cy="38404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0" name="Text 28"/>
          <p:cNvSpPr/>
          <p:nvPr/>
        </p:nvSpPr>
        <p:spPr>
          <a:xfrm>
            <a:off x="8357616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31" name="Shape 29"/>
          <p:cNvSpPr/>
          <p:nvPr/>
        </p:nvSpPr>
        <p:spPr>
          <a:xfrm>
            <a:off x="9500616" y="4242816"/>
            <a:ext cx="384048" cy="384048"/>
          </a:xfrm>
          <a:prstGeom prst="ellipse">
            <a:avLst/>
          </a:prstGeom>
          <a:solidFill>
            <a:srgbClr val="E2E8F0"/>
          </a:solidFill>
          <a:ln/>
        </p:spPr>
      </p:sp>
      <p:sp>
        <p:nvSpPr>
          <p:cNvPr id="32" name="Text 30"/>
          <p:cNvSpPr/>
          <p:nvPr/>
        </p:nvSpPr>
        <p:spPr>
          <a:xfrm>
            <a:off x="9500616" y="424281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⏱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903720" y="4700016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agents waiting on a single blocked request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822960" y="5623560"/>
            <a:ext cx="10545775" cy="658368"/>
          </a:xfrm>
          <a:prstGeom prst="roundRect">
            <a:avLst>
              <a:gd name="adj" fmla="val 13889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896112" y="5623560"/>
            <a:ext cx="10399471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fits ≠ workload fits.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066648" y="77724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bottleneck is not just the model.</a:t>
            </a:r>
            <a:endParaRPr lang="en-US" sz="270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27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is how inference is managed.</a:t>
            </a:r>
            <a:endParaRPr lang="en-US" sz="2700" dirty="0"/>
          </a:p>
        </p:txBody>
      </p:sp>
      <p:sp>
        <p:nvSpPr>
          <p:cNvPr id="3" name="Shape 1"/>
          <p:cNvSpPr/>
          <p:nvPr/>
        </p:nvSpPr>
        <p:spPr>
          <a:xfrm>
            <a:off x="682600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55752" y="233172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WEIGHTS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830172" y="3108960"/>
            <a:ext cx="219456" cy="25237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6" name="Shape 4"/>
          <p:cNvSpPr/>
          <p:nvPr/>
        </p:nvSpPr>
        <p:spPr>
          <a:xfrm>
            <a:off x="682600" y="34290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7" name="Text 5"/>
          <p:cNvSpPr/>
          <p:nvPr/>
        </p:nvSpPr>
        <p:spPr>
          <a:xfrm>
            <a:off x="755752" y="34290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QUANTIZE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453232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26384" y="233172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PREFIXES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00804" y="3108960"/>
            <a:ext cx="219456" cy="25237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11" name="Shape 9"/>
          <p:cNvSpPr/>
          <p:nvPr/>
        </p:nvSpPr>
        <p:spPr>
          <a:xfrm>
            <a:off x="3453232" y="34290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2" name="Text 10"/>
          <p:cNvSpPr/>
          <p:nvPr/>
        </p:nvSpPr>
        <p:spPr>
          <a:xfrm>
            <a:off x="3526384" y="34290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23864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297016" y="233172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REQUESTS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7371436" y="3108960"/>
            <a:ext cx="219456" cy="25237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16" name="Shape 14"/>
          <p:cNvSpPr/>
          <p:nvPr/>
        </p:nvSpPr>
        <p:spPr>
          <a:xfrm>
            <a:off x="6223864" y="34290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6297016" y="34290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BATCH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8994496" y="2331720"/>
            <a:ext cx="251460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67648" y="2331720"/>
            <a:ext cx="236829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UNCONTROLLED MEMORY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10142068" y="3108960"/>
            <a:ext cx="219456" cy="25237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8994496" y="3429000"/>
            <a:ext cx="2514600" cy="54864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9067648" y="3429000"/>
            <a:ext cx="23682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967832" y="4206240"/>
            <a:ext cx="256032" cy="294437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3992728" y="4526280"/>
            <a:ext cx="4206240" cy="685800"/>
          </a:xfrm>
          <a:prstGeom prst="roundRect">
            <a:avLst>
              <a:gd name="adj" fmla="val 16000"/>
            </a:avLst>
          </a:prstGeom>
          <a:solidFill>
            <a:srgbClr val="DBEAFE"/>
          </a:solidFill>
          <a:ln w="19050">
            <a:solidFill>
              <a:srgbClr val="1D4E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065880" y="4526280"/>
            <a:ext cx="4059936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24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2400" dirty="0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Solution: OptiServe-Edge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system-level inference and resource-management layer for multi-agent workloads.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175608" y="1627632"/>
            <a:ext cx="3840480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4248760" y="1627632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WORKLOAD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995264" y="2121408"/>
            <a:ext cx="201168" cy="231343"/>
          </a:xfrm>
          <a:prstGeom prst="downArrow">
            <a:avLst/>
          </a:prstGeom>
          <a:solidFill>
            <a:srgbClr val="475569"/>
          </a:solidFill>
          <a:ln/>
        </p:spPr>
      </p:sp>
      <p:sp>
        <p:nvSpPr>
          <p:cNvPr id="7" name="Shape 5"/>
          <p:cNvSpPr/>
          <p:nvPr/>
        </p:nvSpPr>
        <p:spPr>
          <a:xfrm>
            <a:off x="4175608" y="2340864"/>
            <a:ext cx="3840480" cy="475488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4248760" y="2340864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/ REQUEST LAYER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995264" y="2834640"/>
            <a:ext cx="201168" cy="231343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10" name="Shape 8"/>
          <p:cNvSpPr/>
          <p:nvPr/>
        </p:nvSpPr>
        <p:spPr>
          <a:xfrm>
            <a:off x="2712568" y="3054096"/>
            <a:ext cx="6766560" cy="1874520"/>
          </a:xfrm>
          <a:prstGeom prst="roundRect">
            <a:avLst>
              <a:gd name="adj" fmla="val 5854"/>
            </a:avLst>
          </a:prstGeom>
          <a:solidFill>
            <a:srgbClr val="DBEAFE"/>
          </a:solidFill>
          <a:ln w="25400">
            <a:solidFill>
              <a:srgbClr val="1D4E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41168" y="3163824"/>
            <a:ext cx="6309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169768" y="3557016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3" name="Text 11"/>
          <p:cNvSpPr/>
          <p:nvPr/>
        </p:nvSpPr>
        <p:spPr>
          <a:xfrm>
            <a:off x="3242920" y="3557016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 Scheduler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33008" y="3557016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5" name="Text 13"/>
          <p:cNvSpPr/>
          <p:nvPr/>
        </p:nvSpPr>
        <p:spPr>
          <a:xfrm>
            <a:off x="6306160" y="3557016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169768" y="4288536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7" name="Text 15"/>
          <p:cNvSpPr/>
          <p:nvPr/>
        </p:nvSpPr>
        <p:spPr>
          <a:xfrm>
            <a:off x="3242920" y="4288536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Memory-Aware Control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33008" y="4288536"/>
            <a:ext cx="2788920" cy="502920"/>
          </a:xfrm>
          <a:prstGeom prst="roundRect">
            <a:avLst>
              <a:gd name="adj" fmla="val 50000"/>
            </a:avLst>
          </a:prstGeom>
          <a:solidFill>
            <a:srgbClr val="0D9488"/>
          </a:solidFill>
          <a:ln/>
        </p:spPr>
      </p:sp>
      <p:sp>
        <p:nvSpPr>
          <p:cNvPr id="19" name="Text 17"/>
          <p:cNvSpPr/>
          <p:nvPr/>
        </p:nvSpPr>
        <p:spPr>
          <a:xfrm>
            <a:off x="6306160" y="4288536"/>
            <a:ext cx="26426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95264" y="4983480"/>
            <a:ext cx="201168" cy="231343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21" name="Shape 19"/>
          <p:cNvSpPr/>
          <p:nvPr/>
        </p:nvSpPr>
        <p:spPr>
          <a:xfrm>
            <a:off x="4175608" y="5202936"/>
            <a:ext cx="3840480" cy="475488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248760" y="5202936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/ AWQ LLM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95264" y="5696712"/>
            <a:ext cx="201168" cy="231343"/>
          </a:xfrm>
          <a:prstGeom prst="downArrow">
            <a:avLst/>
          </a:prstGeom>
          <a:solidFill>
            <a:srgbClr val="0F172A"/>
          </a:solidFill>
          <a:ln/>
        </p:spPr>
      </p:sp>
      <p:sp>
        <p:nvSpPr>
          <p:cNvPr id="24" name="Shape 22"/>
          <p:cNvSpPr/>
          <p:nvPr/>
        </p:nvSpPr>
        <p:spPr>
          <a:xfrm>
            <a:off x="4175608" y="5916168"/>
            <a:ext cx="3840480" cy="475488"/>
          </a:xfrm>
          <a:prstGeom prst="rect">
            <a:avLst/>
          </a:prstGeom>
          <a:solidFill>
            <a:srgbClr val="0F172A"/>
          </a:solidFill>
          <a:ln/>
        </p:spPr>
      </p:sp>
      <p:sp>
        <p:nvSpPr>
          <p:cNvPr id="25" name="Text 23"/>
          <p:cNvSpPr/>
          <p:nvPr/>
        </p:nvSpPr>
        <p:spPr>
          <a:xfrm>
            <a:off x="4248760" y="5916168"/>
            <a:ext cx="369417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GPU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#1: INT4 / AWQ Quantization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Reduce model-weight memory to make local inference practical.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1737360" y="178308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1737360" y="2057400"/>
            <a:ext cx="7863840" cy="594360"/>
          </a:xfrm>
          <a:prstGeom prst="roundRect">
            <a:avLst>
              <a:gd name="adj" fmla="val 9231"/>
            </a:avLst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692640" y="2057400"/>
            <a:ext cx="22860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16-bit / weight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5976976" y="2816352"/>
            <a:ext cx="237744" cy="273406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8" name="Text 6"/>
          <p:cNvSpPr/>
          <p:nvPr/>
        </p:nvSpPr>
        <p:spPr>
          <a:xfrm>
            <a:off x="3352648" y="3072384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spc="1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/ AWQ QUANTIZATION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737360" y="3429000"/>
            <a:ext cx="2743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/ AWQ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737360" y="3703320"/>
            <a:ext cx="1965960" cy="594360"/>
          </a:xfrm>
          <a:prstGeom prst="roundRect">
            <a:avLst>
              <a:gd name="adj" fmla="val 9231"/>
            </a:avLst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794760" y="3703320"/>
            <a:ext cx="27432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4-bit / weight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1272388" y="470916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345540" y="47091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weight memory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4244188" y="4846320"/>
            <a:ext cx="329184" cy="27432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15" name="Shape 13"/>
          <p:cNvSpPr/>
          <p:nvPr/>
        </p:nvSpPr>
        <p:spPr>
          <a:xfrm>
            <a:off x="4655668" y="470916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28820" y="47091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More memory headroom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7627468" y="4846320"/>
            <a:ext cx="329184" cy="274320"/>
          </a:xfrm>
          <a:prstGeom prst="rightArrow">
            <a:avLst/>
          </a:prstGeom>
          <a:solidFill>
            <a:srgbClr val="0D9488"/>
          </a:solidFill>
          <a:ln/>
        </p:spPr>
      </p:sp>
      <p:sp>
        <p:nvSpPr>
          <p:cNvPr id="18" name="Shape 16"/>
          <p:cNvSpPr/>
          <p:nvPr/>
        </p:nvSpPr>
        <p:spPr>
          <a:xfrm>
            <a:off x="8038948" y="4709160"/>
            <a:ext cx="2880360" cy="548640"/>
          </a:xfrm>
          <a:prstGeom prst="roundRect">
            <a:avLst>
              <a:gd name="adj" fmla="val 13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112100" y="4709160"/>
            <a:ext cx="273405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Room for KV cache &amp; runtime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822960" y="5532120"/>
            <a:ext cx="105457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Activation-aware Weight Quantization (AWQ) preserves important weight information while aggressively reducing precision.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2960" y="5897880"/>
            <a:ext cx="105457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AWQ is an established quantization technique — not a contribution of this project.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#2: Automatic Prefix Caching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shared prompt prefixes once. Reuse them across agents.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263640" y="1691640"/>
            <a:ext cx="9144" cy="3383280"/>
          </a:xfrm>
          <a:prstGeom prst="line">
            <a:avLst/>
          </a:prstGeom>
          <a:noFill/>
          <a:ln w="12700">
            <a:solidFill>
              <a:srgbClr val="CBD5E1"/>
            </a:solidFill>
            <a:prstDash val="dash"/>
          </a:ln>
        </p:spPr>
      </p:sp>
      <p:sp>
        <p:nvSpPr>
          <p:cNvPr id="5" name="Text 3"/>
          <p:cNvSpPr/>
          <p:nvPr/>
        </p:nvSpPr>
        <p:spPr>
          <a:xfrm>
            <a:off x="822960" y="16916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WITHOUT CACHE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46520" y="1691640"/>
            <a:ext cx="492221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100" kern="0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CACHE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68680" y="2139696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/>
          <p:nvPr/>
        </p:nvSpPr>
        <p:spPr>
          <a:xfrm>
            <a:off x="868680" y="213969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1417320" y="2295144"/>
            <a:ext cx="241402" cy="201168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0" name="Shape 8"/>
          <p:cNvSpPr/>
          <p:nvPr/>
        </p:nvSpPr>
        <p:spPr>
          <a:xfrm>
            <a:off x="1691640" y="21488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764792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474720" y="2295144"/>
            <a:ext cx="241402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13" name="Shape 11"/>
          <p:cNvSpPr/>
          <p:nvPr/>
        </p:nvSpPr>
        <p:spPr>
          <a:xfrm>
            <a:off x="3767328" y="214884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DBEAFE"/>
          </a:solidFill>
          <a:ln w="12700">
            <a:solidFill>
              <a:srgbClr val="1D4E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840480" y="214884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868680" y="2871216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16" name="Text 14"/>
          <p:cNvSpPr/>
          <p:nvPr/>
        </p:nvSpPr>
        <p:spPr>
          <a:xfrm>
            <a:off x="868680" y="287121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1417320" y="3026664"/>
            <a:ext cx="241402" cy="201168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8" name="Shape 16"/>
          <p:cNvSpPr/>
          <p:nvPr/>
        </p:nvSpPr>
        <p:spPr>
          <a:xfrm>
            <a:off x="1691640" y="28803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764792" y="28803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474720" y="3026664"/>
            <a:ext cx="241402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1" name="Shape 19"/>
          <p:cNvSpPr/>
          <p:nvPr/>
        </p:nvSpPr>
        <p:spPr>
          <a:xfrm>
            <a:off x="3767328" y="288036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0" y="288036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Again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68680" y="3602736"/>
            <a:ext cx="512064" cy="512064"/>
          </a:xfrm>
          <a:prstGeom prst="ellipse">
            <a:avLst/>
          </a:prstGeom>
          <a:solidFill>
            <a:srgbClr val="64748B"/>
          </a:solidFill>
          <a:ln/>
        </p:spPr>
      </p:sp>
      <p:sp>
        <p:nvSpPr>
          <p:cNvPr id="24" name="Text 22"/>
          <p:cNvSpPr/>
          <p:nvPr/>
        </p:nvSpPr>
        <p:spPr>
          <a:xfrm>
            <a:off x="868680" y="3602736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1417320" y="3758184"/>
            <a:ext cx="241402" cy="201168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26" name="Shape 24"/>
          <p:cNvSpPr/>
          <p:nvPr/>
        </p:nvSpPr>
        <p:spPr>
          <a:xfrm>
            <a:off x="1691640" y="361188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764792" y="361188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474720" y="3758184"/>
            <a:ext cx="241402" cy="201168"/>
          </a:xfrm>
          <a:prstGeom prst="rightArrow">
            <a:avLst/>
          </a:prstGeom>
          <a:solidFill>
            <a:srgbClr val="EA580C"/>
          </a:solidFill>
          <a:ln/>
        </p:spPr>
      </p:sp>
      <p:sp>
        <p:nvSpPr>
          <p:cNvPr id="29" name="Shape 27"/>
          <p:cNvSpPr/>
          <p:nvPr/>
        </p:nvSpPr>
        <p:spPr>
          <a:xfrm>
            <a:off x="3767328" y="3611880"/>
            <a:ext cx="1691640" cy="502920"/>
          </a:xfrm>
          <a:prstGeom prst="roundRect">
            <a:avLst>
              <a:gd name="adj" fmla="val 10909"/>
            </a:avLst>
          </a:prstGeom>
          <a:solidFill>
            <a:srgbClr val="FFEDD5"/>
          </a:solidFill>
          <a:ln w="12700">
            <a:solidFill>
              <a:srgbClr val="EA580C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840480" y="3611880"/>
            <a:ext cx="154533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Again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7536028" y="2103120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609180" y="2103120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Common Prefix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706460" y="2651760"/>
            <a:ext cx="219456" cy="252374"/>
          </a:xfrm>
          <a:prstGeom prst="downArrow">
            <a:avLst/>
          </a:prstGeom>
          <a:solidFill>
            <a:srgbClr val="0D9488"/>
          </a:solidFill>
          <a:ln/>
        </p:spPr>
      </p:sp>
      <p:sp>
        <p:nvSpPr>
          <p:cNvPr id="34" name="Shape 32"/>
          <p:cNvSpPr/>
          <p:nvPr/>
        </p:nvSpPr>
        <p:spPr>
          <a:xfrm>
            <a:off x="7536028" y="2889504"/>
            <a:ext cx="2560320" cy="502920"/>
          </a:xfrm>
          <a:prstGeom prst="roundRect">
            <a:avLst>
              <a:gd name="adj" fmla="val 10909"/>
            </a:avLst>
          </a:prstGeom>
          <a:solidFill>
            <a:srgbClr val="0D9488"/>
          </a:solidFill>
          <a:ln/>
        </p:spPr>
      </p:sp>
      <p:sp>
        <p:nvSpPr>
          <p:cNvPr id="35" name="Text 33"/>
          <p:cNvSpPr/>
          <p:nvPr/>
        </p:nvSpPr>
        <p:spPr>
          <a:xfrm>
            <a:off x="7609180" y="2889504"/>
            <a:ext cx="24140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 ONCE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 flipH="1">
            <a:off x="7444588" y="3392424"/>
            <a:ext cx="1371600" cy="5852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215988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38" name="Text 36"/>
          <p:cNvSpPr/>
          <p:nvPr/>
        </p:nvSpPr>
        <p:spPr>
          <a:xfrm>
            <a:off x="721598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A1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8816188" y="3392424"/>
            <a:ext cx="9144" cy="5852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587588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1" name="Text 39"/>
          <p:cNvSpPr/>
          <p:nvPr/>
        </p:nvSpPr>
        <p:spPr>
          <a:xfrm>
            <a:off x="858758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8816188" y="3392424"/>
            <a:ext cx="1371600" cy="585216"/>
          </a:xfrm>
          <a:prstGeom prst="line">
            <a:avLst/>
          </a:prstGeom>
          <a:noFill/>
          <a:ln w="19050">
            <a:solidFill>
              <a:srgbClr val="0D9488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9959188" y="3977640"/>
            <a:ext cx="457200" cy="457200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44" name="Text 42"/>
          <p:cNvSpPr/>
          <p:nvPr/>
        </p:nvSpPr>
        <p:spPr>
          <a:xfrm>
            <a:off x="9959188" y="39776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A3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280160" y="5257800"/>
            <a:ext cx="9631375" cy="566928"/>
          </a:xfrm>
          <a:prstGeom prst="roundRect">
            <a:avLst>
              <a:gd name="adj" fmla="val 16129"/>
            </a:avLst>
          </a:prstGeom>
          <a:solidFill>
            <a:srgbClr val="CCFBF1"/>
          </a:solidFill>
          <a:ln/>
        </p:spPr>
      </p:sp>
      <p:sp>
        <p:nvSpPr>
          <p:cNvPr id="46" name="Text 44"/>
          <p:cNvSpPr/>
          <p:nvPr/>
        </p:nvSpPr>
        <p:spPr>
          <a:xfrm>
            <a:off x="1353312" y="5257800"/>
            <a:ext cx="9485071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8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redundant prefill computation.</a:t>
            </a: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#3: Continuous Batching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Keep the GPU working while requests enter and leave dynamically.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6002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/ STATIC BATCHING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1554480" y="1938528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3852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1554480" y="2331720"/>
            <a:ext cx="7863840" cy="310896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8" name="Shape 6"/>
          <p:cNvSpPr/>
          <p:nvPr/>
        </p:nvSpPr>
        <p:spPr>
          <a:xfrm>
            <a:off x="9418320" y="2331720"/>
            <a:ext cx="914400" cy="310896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188720" y="233172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1554480" y="2724912"/>
            <a:ext cx="8595360" cy="310896"/>
          </a:xfrm>
          <a:prstGeom prst="rect">
            <a:avLst/>
          </a:prstGeom>
          <a:solidFill>
            <a:srgbClr val="FFEDD5"/>
          </a:solidFill>
          <a:ln/>
        </p:spPr>
      </p:sp>
      <p:sp>
        <p:nvSpPr>
          <p:cNvPr id="11" name="Shape 9"/>
          <p:cNvSpPr/>
          <p:nvPr/>
        </p:nvSpPr>
        <p:spPr>
          <a:xfrm>
            <a:off x="10149840" y="2724912"/>
            <a:ext cx="777240" cy="310896"/>
          </a:xfrm>
          <a:prstGeom prst="roundRect">
            <a:avLst>
              <a:gd name="adj" fmla="val 11765"/>
            </a:avLst>
          </a:prstGeom>
          <a:solidFill>
            <a:srgbClr val="1D4ED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88720" y="272491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737360" y="2331720"/>
            <a:ext cx="5943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waiting — idle for B, C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48640" y="310896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timeline — conceptual, not measured data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8640" y="3520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554480" y="3858768"/>
            <a:ext cx="7863840" cy="31089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188720" y="385876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1554480" y="4251960"/>
            <a:ext cx="1280160" cy="31089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188720" y="425196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383280" y="4645152"/>
            <a:ext cx="2011680" cy="31089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188720" y="4645152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5943600" y="5038344"/>
            <a:ext cx="2743200" cy="310896"/>
          </a:xfrm>
          <a:prstGeom prst="roundRect">
            <a:avLst>
              <a:gd name="adj" fmla="val 11765"/>
            </a:avLst>
          </a:prstGeom>
          <a:solidFill>
            <a:srgbClr val="0D9488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188720" y="5038344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440680"/>
            <a:ext cx="5486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Illustrative timeline — conceptual, not measured data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280160" y="5806440"/>
            <a:ext cx="9631375" cy="548640"/>
          </a:xfrm>
          <a:prstGeom prst="roundRect">
            <a:avLst>
              <a:gd name="adj" fmla="val 13333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1353312" y="5806440"/>
            <a:ext cx="948507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requests enter while existing requests are still generating.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 #4: Memory-Aware Request Control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Prevent uncontrolled VRAM growth through admission control.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274320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1261872" y="1737360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REQUEST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459736" y="2267712"/>
            <a:ext cx="201168" cy="231343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1188720" y="2487168"/>
            <a:ext cx="274320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1261872" y="2487168"/>
            <a:ext cx="25968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ESTIMATION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459736" y="3017520"/>
            <a:ext cx="201168" cy="231343"/>
          </a:xfrm>
          <a:prstGeom prst="downArrow">
            <a:avLst/>
          </a:prstGeom>
          <a:solidFill>
            <a:srgbClr val="0F172A"/>
          </a:solidFill>
          <a:ln/>
        </p:spPr>
      </p:sp>
      <p:sp>
        <p:nvSpPr>
          <p:cNvPr id="10" name="Shape 8"/>
          <p:cNvSpPr/>
          <p:nvPr/>
        </p:nvSpPr>
        <p:spPr>
          <a:xfrm>
            <a:off x="1188720" y="3236976"/>
            <a:ext cx="2743200" cy="54864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 w="19050">
            <a:solidFill>
              <a:srgbClr val="0F172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261872" y="3236976"/>
            <a:ext cx="259689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VRAM AVAILABLE?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flipH="1">
            <a:off x="1828800" y="3785616"/>
            <a:ext cx="182880" cy="557784"/>
          </a:xfrm>
          <a:prstGeom prst="line">
            <a:avLst/>
          </a:prstGeom>
          <a:noFill/>
          <a:ln w="19050">
            <a:solidFill>
              <a:srgbClr val="16A34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3785616"/>
            <a:ext cx="182880" cy="557784"/>
          </a:xfrm>
          <a:prstGeom prst="line">
            <a:avLst/>
          </a:prstGeom>
          <a:noFill/>
          <a:ln w="19050">
            <a:solidFill>
              <a:srgbClr val="EA580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9728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16A34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YES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108960" y="393192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188720" y="4343400"/>
            <a:ext cx="1280160" cy="50292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17" name="Text 15"/>
          <p:cNvSpPr/>
          <p:nvPr/>
        </p:nvSpPr>
        <p:spPr>
          <a:xfrm>
            <a:off x="1261872" y="43434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651760" y="4343400"/>
            <a:ext cx="1280160" cy="502920"/>
          </a:xfrm>
          <a:prstGeom prst="rect">
            <a:avLst/>
          </a:prstGeom>
          <a:solidFill>
            <a:srgbClr val="EA580C"/>
          </a:solidFill>
          <a:ln/>
        </p:spPr>
      </p:sp>
      <p:sp>
        <p:nvSpPr>
          <p:cNvPr id="19" name="Text 17"/>
          <p:cNvSpPr/>
          <p:nvPr/>
        </p:nvSpPr>
        <p:spPr>
          <a:xfrm>
            <a:off x="2724912" y="4343400"/>
            <a:ext cx="113385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955280" y="173736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spc="10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VRAM BUDGET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8229600" y="4709160"/>
            <a:ext cx="1554480" cy="914400"/>
          </a:xfrm>
          <a:prstGeom prst="rect">
            <a:avLst/>
          </a:prstGeom>
          <a:solidFill>
            <a:srgbClr val="1D4ED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229600" y="3977640"/>
            <a:ext cx="1554480" cy="731520"/>
          </a:xfrm>
          <a:prstGeom prst="rect">
            <a:avLst/>
          </a:prstGeom>
          <a:solidFill>
            <a:srgbClr val="0D9488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229600" y="3566160"/>
            <a:ext cx="1554480" cy="411480"/>
          </a:xfrm>
          <a:prstGeom prst="rect">
            <a:avLst/>
          </a:prstGeom>
          <a:solidFill>
            <a:srgbClr val="64748B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229600" y="3200400"/>
            <a:ext cx="1554480" cy="365760"/>
          </a:xfrm>
          <a:prstGeom prst="rect">
            <a:avLst/>
          </a:prstGeom>
          <a:solidFill>
            <a:srgbClr val="FFFFFF"/>
          </a:solidFill>
          <a:ln w="19050">
            <a:solidFill>
              <a:srgbClr val="0F172A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9921240" y="50292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Weights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9921240" y="42062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KV Cache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921240" y="363474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Runtime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9921240" y="3182112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SAFETY MARGIN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822960" y="6172200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Admission control keeps memory usage inside a safe, predictable budget.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Multi-Agent Workflow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Specialized agents collaborate; every inference call routes through OptiServe-Edge.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4998568" y="1645920"/>
            <a:ext cx="2194560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5" name="Text 3"/>
          <p:cNvSpPr/>
          <p:nvPr/>
        </p:nvSpPr>
        <p:spPr>
          <a:xfrm>
            <a:off x="5071720" y="164592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TASK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004408" y="2121408"/>
            <a:ext cx="182880" cy="210312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7" name="Shape 5"/>
          <p:cNvSpPr/>
          <p:nvPr/>
        </p:nvSpPr>
        <p:spPr>
          <a:xfrm>
            <a:off x="4998568" y="2304288"/>
            <a:ext cx="21945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8" name="Text 6"/>
          <p:cNvSpPr/>
          <p:nvPr/>
        </p:nvSpPr>
        <p:spPr>
          <a:xfrm>
            <a:off x="5071720" y="230428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PLANNER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 flipH="1">
            <a:off x="3489808" y="2779776"/>
            <a:ext cx="2606040" cy="347472"/>
          </a:xfrm>
          <a:prstGeom prst="line">
            <a:avLst/>
          </a:prstGeom>
          <a:noFill/>
          <a:ln w="16510">
            <a:solidFill>
              <a:srgbClr val="1D4ED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38248" y="3127248"/>
            <a:ext cx="210312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1" name="Text 9"/>
          <p:cNvSpPr/>
          <p:nvPr/>
        </p:nvSpPr>
        <p:spPr>
          <a:xfrm>
            <a:off x="2511400" y="31272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CODER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 flipH="1">
            <a:off x="6095848" y="2779776"/>
            <a:ext cx="0" cy="347472"/>
          </a:xfrm>
          <a:prstGeom prst="line">
            <a:avLst/>
          </a:prstGeom>
          <a:noFill/>
          <a:ln w="16510">
            <a:solidFill>
              <a:srgbClr val="1D4ED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044288" y="3127248"/>
            <a:ext cx="210312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4" name="Text 12"/>
          <p:cNvSpPr/>
          <p:nvPr/>
        </p:nvSpPr>
        <p:spPr>
          <a:xfrm>
            <a:off x="5117440" y="31272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RESEARCHER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095848" y="2779776"/>
            <a:ext cx="2606040" cy="347472"/>
          </a:xfrm>
          <a:prstGeom prst="line">
            <a:avLst/>
          </a:prstGeom>
          <a:noFill/>
          <a:ln w="16510">
            <a:solidFill>
              <a:srgbClr val="1D4ED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50328" y="3127248"/>
            <a:ext cx="210312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17" name="Text 15"/>
          <p:cNvSpPr/>
          <p:nvPr/>
        </p:nvSpPr>
        <p:spPr>
          <a:xfrm>
            <a:off x="7723480" y="3127248"/>
            <a:ext cx="19568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TESTER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3489808" y="3584448"/>
            <a:ext cx="2606040" cy="36576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095848" y="3584448"/>
            <a:ext cx="0" cy="36576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 flipH="1">
            <a:off x="6095848" y="3584448"/>
            <a:ext cx="2606040" cy="365760"/>
          </a:xfrm>
          <a:prstGeom prst="line">
            <a:avLst/>
          </a:prstGeom>
          <a:noFill/>
          <a:ln w="16510">
            <a:solidFill>
              <a:srgbClr val="0D948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58488" y="3950208"/>
            <a:ext cx="3474720" cy="50292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22" name="Text 20"/>
          <p:cNvSpPr/>
          <p:nvPr/>
        </p:nvSpPr>
        <p:spPr>
          <a:xfrm>
            <a:off x="4431640" y="3950208"/>
            <a:ext cx="3328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Concurrent Inference via OptiServe-Edge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004408" y="4526280"/>
            <a:ext cx="182880" cy="210312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24" name="Shape 22"/>
          <p:cNvSpPr/>
          <p:nvPr/>
        </p:nvSpPr>
        <p:spPr>
          <a:xfrm>
            <a:off x="4998568" y="4709160"/>
            <a:ext cx="21945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5" name="Text 23"/>
          <p:cNvSpPr/>
          <p:nvPr/>
        </p:nvSpPr>
        <p:spPr>
          <a:xfrm>
            <a:off x="5071720" y="4709160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DEBUGGER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6004408" y="5184648"/>
            <a:ext cx="182880" cy="210312"/>
          </a:xfrm>
          <a:prstGeom prst="downArrow">
            <a:avLst/>
          </a:prstGeom>
          <a:solidFill>
            <a:srgbClr val="1D4ED8"/>
          </a:solidFill>
          <a:ln/>
        </p:spPr>
      </p:sp>
      <p:sp>
        <p:nvSpPr>
          <p:cNvPr id="27" name="Shape 25"/>
          <p:cNvSpPr/>
          <p:nvPr/>
        </p:nvSpPr>
        <p:spPr>
          <a:xfrm>
            <a:off x="4998568" y="5367528"/>
            <a:ext cx="2194560" cy="45720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28" name="Text 26"/>
          <p:cNvSpPr/>
          <p:nvPr/>
        </p:nvSpPr>
        <p:spPr>
          <a:xfrm>
            <a:off x="5071720" y="5367528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REVIEWER</a:t>
            </a:r>
            <a:endParaRPr lang="en-US" sz="1250" dirty="0"/>
          </a:p>
        </p:txBody>
      </p:sp>
      <p:sp>
        <p:nvSpPr>
          <p:cNvPr id="29" name="Shape 27"/>
          <p:cNvSpPr/>
          <p:nvPr/>
        </p:nvSpPr>
        <p:spPr>
          <a:xfrm>
            <a:off x="6004408" y="5843016"/>
            <a:ext cx="182880" cy="210312"/>
          </a:xfrm>
          <a:prstGeom prst="downArrow">
            <a:avLst/>
          </a:prstGeom>
          <a:solidFill>
            <a:srgbClr val="16A34A"/>
          </a:solidFill>
          <a:ln/>
        </p:spPr>
      </p:sp>
      <p:sp>
        <p:nvSpPr>
          <p:cNvPr id="30" name="Shape 28"/>
          <p:cNvSpPr/>
          <p:nvPr/>
        </p:nvSpPr>
        <p:spPr>
          <a:xfrm>
            <a:off x="4998568" y="6025896"/>
            <a:ext cx="2194560" cy="457200"/>
          </a:xfrm>
          <a:prstGeom prst="rect">
            <a:avLst/>
          </a:prstGeom>
          <a:solidFill>
            <a:srgbClr val="16A34A"/>
          </a:solidFill>
          <a:ln/>
        </p:spPr>
      </p:sp>
      <p:sp>
        <p:nvSpPr>
          <p:cNvPr id="31" name="Text 29"/>
          <p:cNvSpPr/>
          <p:nvPr/>
        </p:nvSpPr>
        <p:spPr>
          <a:xfrm>
            <a:off x="5071720" y="6025896"/>
            <a:ext cx="204825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OUTPUT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Inside OptiServe-Edge: Request Lifecycle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859536" y="1874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1F5F9"/>
          </a:solidFill>
          <a:ln w="15240">
            <a:solidFill>
              <a:srgbClr val="64748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32688" y="19110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REQUEST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arrives from an agent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13232" y="17282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82696" y="2221992"/>
            <a:ext cx="263347" cy="219456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8" name="Shape 6"/>
          <p:cNvSpPr/>
          <p:nvPr/>
        </p:nvSpPr>
        <p:spPr>
          <a:xfrm>
            <a:off x="3557016" y="1874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FFEDD5"/>
          </a:solidFill>
          <a:ln w="15240">
            <a:solidFill>
              <a:srgbClr val="EA580C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30168" y="19110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Waits its turn to be scheduled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3410712" y="17282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1" name="Text 9"/>
          <p:cNvSpPr/>
          <p:nvPr/>
        </p:nvSpPr>
        <p:spPr>
          <a:xfrm>
            <a:off x="3410712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980176" y="2221992"/>
            <a:ext cx="263347" cy="219456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3" name="Shape 11"/>
          <p:cNvSpPr/>
          <p:nvPr/>
        </p:nvSpPr>
        <p:spPr>
          <a:xfrm>
            <a:off x="6254496" y="1874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27648" y="19110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PREFIX CACHE LOOKUP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Checks for a reusable prefix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6108192" y="17282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16" name="Text 14"/>
          <p:cNvSpPr/>
          <p:nvPr/>
        </p:nvSpPr>
        <p:spPr>
          <a:xfrm>
            <a:off x="6108192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677656" y="2221992"/>
            <a:ext cx="263347" cy="219456"/>
          </a:xfrm>
          <a:prstGeom prst="rightArrow">
            <a:avLst/>
          </a:prstGeom>
          <a:solidFill>
            <a:srgbClr val="475569"/>
          </a:solidFill>
          <a:ln/>
        </p:spPr>
      </p:sp>
      <p:sp>
        <p:nvSpPr>
          <p:cNvPr id="18" name="Shape 16"/>
          <p:cNvSpPr/>
          <p:nvPr/>
        </p:nvSpPr>
        <p:spPr>
          <a:xfrm>
            <a:off x="8951976" y="18745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025128" y="19110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 CHECK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Verifies available VRAM headroom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8805672" y="17282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1" name="Text 19"/>
          <p:cNvSpPr/>
          <p:nvPr/>
        </p:nvSpPr>
        <p:spPr>
          <a:xfrm>
            <a:off x="8805672" y="17282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10140696" y="2788920"/>
            <a:ext cx="9144" cy="457200"/>
          </a:xfrm>
          <a:prstGeom prst="line">
            <a:avLst/>
          </a:prstGeom>
          <a:noFill/>
          <a:ln w="19050">
            <a:solidFill>
              <a:srgbClr val="47556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951976" y="3246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BEAFE"/>
          </a:solidFill>
          <a:ln w="15240">
            <a:solidFill>
              <a:srgbClr val="1D4ED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9025128" y="32826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SCHEDULER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Assigns request to next batch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805672" y="30998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26" name="Text 24"/>
          <p:cNvSpPr/>
          <p:nvPr/>
        </p:nvSpPr>
        <p:spPr>
          <a:xfrm>
            <a:off x="880567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686800" y="3593592"/>
            <a:ext cx="263347" cy="219456"/>
          </a:xfrm>
          <a:prstGeom prst="leftArrow">
            <a:avLst/>
          </a:prstGeom>
          <a:solidFill>
            <a:srgbClr val="475569"/>
          </a:solidFill>
          <a:ln/>
        </p:spPr>
      </p:sp>
      <p:sp>
        <p:nvSpPr>
          <p:cNvPr id="28" name="Shape 26"/>
          <p:cNvSpPr/>
          <p:nvPr/>
        </p:nvSpPr>
        <p:spPr>
          <a:xfrm>
            <a:off x="6254496" y="3246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327648" y="32826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PREFILL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Processes prompt tokens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108192" y="30998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1" name="Text 29"/>
          <p:cNvSpPr/>
          <p:nvPr/>
        </p:nvSpPr>
        <p:spPr>
          <a:xfrm>
            <a:off x="610819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989320" y="3593592"/>
            <a:ext cx="263347" cy="219456"/>
          </a:xfrm>
          <a:prstGeom prst="leftArrow">
            <a:avLst/>
          </a:prstGeom>
          <a:solidFill>
            <a:srgbClr val="475569"/>
          </a:solidFill>
          <a:ln/>
        </p:spPr>
      </p:sp>
      <p:sp>
        <p:nvSpPr>
          <p:cNvPr id="33" name="Shape 31"/>
          <p:cNvSpPr/>
          <p:nvPr/>
        </p:nvSpPr>
        <p:spPr>
          <a:xfrm>
            <a:off x="3557016" y="3246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CCFBF1"/>
          </a:solidFill>
          <a:ln w="15240">
            <a:solidFill>
              <a:srgbClr val="0D9488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30168" y="32826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DECODE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Generates tokens dynamically</a:t>
            </a:r>
            <a:endParaRPr lang="en-US" sz="1250" dirty="0"/>
          </a:p>
        </p:txBody>
      </p:sp>
      <p:sp>
        <p:nvSpPr>
          <p:cNvPr id="35" name="Shape 33"/>
          <p:cNvSpPr/>
          <p:nvPr/>
        </p:nvSpPr>
        <p:spPr>
          <a:xfrm>
            <a:off x="3410712" y="30998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36" name="Text 34"/>
          <p:cNvSpPr/>
          <p:nvPr/>
        </p:nvSpPr>
        <p:spPr>
          <a:xfrm>
            <a:off x="341071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3291840" y="3593592"/>
            <a:ext cx="263347" cy="219456"/>
          </a:xfrm>
          <a:prstGeom prst="leftArrow">
            <a:avLst/>
          </a:prstGeom>
          <a:solidFill>
            <a:srgbClr val="475569"/>
          </a:solidFill>
          <a:ln/>
        </p:spPr>
      </p:sp>
      <p:sp>
        <p:nvSpPr>
          <p:cNvPr id="38" name="Shape 36"/>
          <p:cNvSpPr/>
          <p:nvPr/>
        </p:nvSpPr>
        <p:spPr>
          <a:xfrm>
            <a:off x="859536" y="3246120"/>
            <a:ext cx="2377440" cy="91440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32688" y="3282696"/>
            <a:ext cx="223113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8000"/>
              </a:lnSpc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STREAM RESPONSE</a:t>
            </a:r>
            <a:endParaRPr lang="en-US" sz="1250" dirty="0"/>
          </a:p>
          <a:p>
            <a:pPr algn="ctr" indent="0" marL="0">
              <a:lnSpc>
                <a:spcPct val="108000"/>
              </a:lnSpc>
              <a:buNone/>
            </a:pPr>
            <a:r>
              <a:rPr lang="en-US" sz="9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Returns tokens to the agent</a:t>
            </a:r>
            <a:endParaRPr lang="en-US" sz="1250" dirty="0"/>
          </a:p>
        </p:txBody>
      </p:sp>
      <p:sp>
        <p:nvSpPr>
          <p:cNvPr id="40" name="Shape 38"/>
          <p:cNvSpPr/>
          <p:nvPr/>
        </p:nvSpPr>
        <p:spPr>
          <a:xfrm>
            <a:off x="713232" y="3099816"/>
            <a:ext cx="347472" cy="347472"/>
          </a:xfrm>
          <a:prstGeom prst="ellipse">
            <a:avLst/>
          </a:prstGeom>
          <a:solidFill>
            <a:srgbClr val="0F172A"/>
          </a:solidFill>
          <a:ln/>
        </p:spPr>
      </p:sp>
      <p:sp>
        <p:nvSpPr>
          <p:cNvPr id="41" name="Text 39"/>
          <p:cNvSpPr/>
          <p:nvPr/>
        </p:nvSpPr>
        <p:spPr>
          <a:xfrm>
            <a:off x="713232" y="309981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548640" y="4343400"/>
            <a:ext cx="1109441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Numbered stages trace a single inference request from arrival to streamed output.</a:t>
            </a:r>
            <a:endParaRPr lang="en-US" sz="1300" dirty="0"/>
          </a:p>
        </p:txBody>
      </p:sp>
      <p:sp>
        <p:nvSpPr>
          <p:cNvPr id="43" name="Text 41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 vs OptiServe-Edge</a:t>
            </a:r>
            <a:endParaRPr lang="en-US" sz="2900" dirty="0"/>
          </a:p>
        </p:txBody>
      </p:sp>
      <p:sp>
        <p:nvSpPr>
          <p:cNvPr id="3" name="Shape 1"/>
          <p:cNvSpPr/>
          <p:nvPr/>
        </p:nvSpPr>
        <p:spPr>
          <a:xfrm>
            <a:off x="1226668" y="1600200"/>
            <a:ext cx="4617720" cy="50292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4" name="Text 2"/>
          <p:cNvSpPr/>
          <p:nvPr/>
        </p:nvSpPr>
        <p:spPr>
          <a:xfrm>
            <a:off x="1299820" y="1600200"/>
            <a:ext cx="4471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347308" y="1600200"/>
            <a:ext cx="4617720" cy="502920"/>
          </a:xfrm>
          <a:prstGeom prst="rect">
            <a:avLst/>
          </a:prstGeom>
          <a:solidFill>
            <a:srgbClr val="1D4ED8"/>
          </a:solidFill>
          <a:ln/>
        </p:spPr>
      </p:sp>
      <p:sp>
        <p:nvSpPr>
          <p:cNvPr id="6" name="Text 4"/>
          <p:cNvSpPr/>
          <p:nvPr/>
        </p:nvSpPr>
        <p:spPr>
          <a:xfrm>
            <a:off x="6420460" y="1600200"/>
            <a:ext cx="44714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1226668" y="2286000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99820" y="2286000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FP16 / Conventional Model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347308" y="2286000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20460" y="2286000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INT4 / AWQ Quantization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226668" y="270662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47308" y="2706624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226668" y="2852928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299820" y="2852928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Prefix Computation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6347308" y="2852928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20460" y="2852928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Automatic Prefix Caching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226668" y="327355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47308" y="3273552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1226668" y="3419856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99820" y="3419856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Naive Request Handling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347308" y="3419856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20460" y="3419856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Batching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26668" y="384048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47308" y="3840480"/>
            <a:ext cx="46177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226668" y="3986784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99820" y="3986784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Limited Concurrency Control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347308" y="3986784"/>
            <a:ext cx="4617720" cy="420624"/>
          </a:xfrm>
          <a:prstGeom prst="roundRect">
            <a:avLst>
              <a:gd name="adj" fmla="val 1304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20460" y="3986784"/>
            <a:ext cx="447141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Memory-Aware Scheduling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3425800" y="4572000"/>
            <a:ext cx="219456" cy="252374"/>
          </a:xfrm>
          <a:prstGeom prst="downArrow">
            <a:avLst/>
          </a:prstGeom>
          <a:solidFill>
            <a:srgbClr val="DC2626"/>
          </a:solidFill>
          <a:ln/>
        </p:spPr>
      </p:sp>
      <p:sp>
        <p:nvSpPr>
          <p:cNvPr id="30" name="Shape 28"/>
          <p:cNvSpPr/>
          <p:nvPr/>
        </p:nvSpPr>
        <p:spPr>
          <a:xfrm>
            <a:off x="8546440" y="4572000"/>
            <a:ext cx="219456" cy="252374"/>
          </a:xfrm>
          <a:prstGeom prst="downArrow">
            <a:avLst/>
          </a:prstGeom>
          <a:solidFill>
            <a:srgbClr val="16A34A"/>
          </a:solidFill>
          <a:ln/>
        </p:spPr>
      </p:sp>
      <p:sp>
        <p:nvSpPr>
          <p:cNvPr id="31" name="Shape 29"/>
          <p:cNvSpPr/>
          <p:nvPr/>
        </p:nvSpPr>
        <p:spPr>
          <a:xfrm>
            <a:off x="1226668" y="484632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FEE2E2"/>
          </a:solidFill>
          <a:ln w="1524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299820" y="4882896"/>
            <a:ext cx="4471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memory pressure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Repeated compute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Queueing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risk</a:t>
            </a:r>
            <a:endParaRPr lang="en-US" sz="1250" dirty="0"/>
          </a:p>
        </p:txBody>
      </p:sp>
      <p:sp>
        <p:nvSpPr>
          <p:cNvPr id="33" name="Shape 31"/>
          <p:cNvSpPr/>
          <p:nvPr/>
        </p:nvSpPr>
        <p:spPr>
          <a:xfrm>
            <a:off x="6347308" y="4846320"/>
            <a:ext cx="4617720" cy="1051560"/>
          </a:xfrm>
          <a:prstGeom prst="roundRect">
            <a:avLst>
              <a:gd name="adj" fmla="val 6957"/>
            </a:avLst>
          </a:prstGeom>
          <a:solidFill>
            <a:srgbClr val="DCFCE7"/>
          </a:solidFill>
          <a:ln w="15240">
            <a:solidFill>
              <a:srgbClr val="16A34A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20460" y="4882896"/>
            <a:ext cx="4471416" cy="9784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weight memory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Less redundant compute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utilization</a:t>
            </a:r>
            <a:endParaRPr lang="en-US" sz="125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125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Controlled memory</a:t>
            </a:r>
            <a:endParaRPr lang="en-US" sz="1250" dirty="0"/>
          </a:p>
        </p:txBody>
      </p:sp>
      <p:sp>
        <p:nvSpPr>
          <p:cNvPr id="35" name="Text 33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Methodology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Isolate  →  Measure  →  Compare  →  Validate</a:t>
            </a:r>
            <a:endParaRPr lang="en-US" sz="145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ABLATION PIPELINE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6372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94A3B8"/>
          </a:solidFill>
          <a:ln/>
        </p:spPr>
      </p:sp>
      <p:sp>
        <p:nvSpPr>
          <p:cNvPr id="6" name="Text 4"/>
          <p:cNvSpPr/>
          <p:nvPr/>
        </p:nvSpPr>
        <p:spPr>
          <a:xfrm>
            <a:off x="63688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BASELINE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2264512" y="2249424"/>
            <a:ext cx="197510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8" name="Shape 6"/>
          <p:cNvSpPr/>
          <p:nvPr/>
        </p:nvSpPr>
        <p:spPr>
          <a:xfrm>
            <a:off x="243824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60A5FA"/>
          </a:solidFill>
          <a:ln/>
        </p:spPr>
      </p:sp>
      <p:sp>
        <p:nvSpPr>
          <p:cNvPr id="9" name="Text 7"/>
          <p:cNvSpPr/>
          <p:nvPr/>
        </p:nvSpPr>
        <p:spPr>
          <a:xfrm>
            <a:off x="251140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INT4 / AWQ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139032" y="2249424"/>
            <a:ext cx="197510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1" name="Shape 9"/>
          <p:cNvSpPr/>
          <p:nvPr/>
        </p:nvSpPr>
        <p:spPr>
          <a:xfrm>
            <a:off x="431276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3B82F6"/>
          </a:solidFill>
          <a:ln/>
        </p:spPr>
      </p:sp>
      <p:sp>
        <p:nvSpPr>
          <p:cNvPr id="12" name="Text 10"/>
          <p:cNvSpPr/>
          <p:nvPr/>
        </p:nvSpPr>
        <p:spPr>
          <a:xfrm>
            <a:off x="438592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PREFIX CACHE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13552" y="2249424"/>
            <a:ext cx="197510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4" name="Shape 12"/>
          <p:cNvSpPr/>
          <p:nvPr/>
        </p:nvSpPr>
        <p:spPr>
          <a:xfrm>
            <a:off x="618728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2563EB"/>
          </a:solidFill>
          <a:ln/>
        </p:spPr>
      </p:sp>
      <p:sp>
        <p:nvSpPr>
          <p:cNvPr id="15" name="Text 13"/>
          <p:cNvSpPr/>
          <p:nvPr/>
        </p:nvSpPr>
        <p:spPr>
          <a:xfrm>
            <a:off x="626044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BATCHING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888072" y="2249424"/>
            <a:ext cx="197510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17" name="Shape 15"/>
          <p:cNvSpPr/>
          <p:nvPr/>
        </p:nvSpPr>
        <p:spPr>
          <a:xfrm>
            <a:off x="806180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1E3A8A"/>
          </a:solidFill>
          <a:ln/>
        </p:spPr>
      </p:sp>
      <p:sp>
        <p:nvSpPr>
          <p:cNvPr id="18" name="Text 16"/>
          <p:cNvSpPr/>
          <p:nvPr/>
        </p:nvSpPr>
        <p:spPr>
          <a:xfrm>
            <a:off x="813496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+ MEMORY CONTROL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9762592" y="2249424"/>
            <a:ext cx="197510" cy="164592"/>
          </a:xfrm>
          <a:prstGeom prst="rightArrow">
            <a:avLst/>
          </a:prstGeom>
          <a:solidFill>
            <a:srgbClr val="CBD5E1"/>
          </a:solidFill>
          <a:ln/>
        </p:spPr>
      </p:sp>
      <p:sp>
        <p:nvSpPr>
          <p:cNvPr id="20" name="Shape 18"/>
          <p:cNvSpPr/>
          <p:nvPr/>
        </p:nvSpPr>
        <p:spPr>
          <a:xfrm>
            <a:off x="9936328" y="2011680"/>
            <a:ext cx="1691640" cy="640080"/>
          </a:xfrm>
          <a:prstGeom prst="roundRect">
            <a:avLst>
              <a:gd name="adj" fmla="val 8571"/>
            </a:avLst>
          </a:prstGeom>
          <a:solidFill>
            <a:srgbClr val="0D9488"/>
          </a:solidFill>
          <a:ln/>
        </p:spPr>
      </p:sp>
      <p:sp>
        <p:nvSpPr>
          <p:cNvPr id="21" name="Text 19"/>
          <p:cNvSpPr/>
          <p:nvPr/>
        </p:nvSpPr>
        <p:spPr>
          <a:xfrm>
            <a:off x="10009480" y="2011680"/>
            <a:ext cx="15453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OPTISERVE-EDGE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48640" y="297180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spc="150" kern="0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METRICS TRACKED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1089508" y="3337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4" name="Text 22"/>
          <p:cNvSpPr/>
          <p:nvPr/>
        </p:nvSpPr>
        <p:spPr>
          <a:xfrm>
            <a:off x="1162660" y="33375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VRAM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3649828" y="3337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6" name="Text 24"/>
          <p:cNvSpPr/>
          <p:nvPr/>
        </p:nvSpPr>
        <p:spPr>
          <a:xfrm>
            <a:off x="3722980" y="33375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10148" y="3337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28" name="Text 26"/>
          <p:cNvSpPr/>
          <p:nvPr/>
        </p:nvSpPr>
        <p:spPr>
          <a:xfrm>
            <a:off x="6283300" y="33375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</a:t>
            </a:r>
            <a:endParaRPr lang="en-US" sz="1150" dirty="0"/>
          </a:p>
        </p:txBody>
      </p:sp>
      <p:sp>
        <p:nvSpPr>
          <p:cNvPr id="29" name="Shape 27"/>
          <p:cNvSpPr/>
          <p:nvPr/>
        </p:nvSpPr>
        <p:spPr>
          <a:xfrm>
            <a:off x="8770468" y="333756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0" name="Text 28"/>
          <p:cNvSpPr/>
          <p:nvPr/>
        </p:nvSpPr>
        <p:spPr>
          <a:xfrm>
            <a:off x="8843620" y="333756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P95 / P99 LATENCY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2369668" y="39319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2" name="Text 30"/>
          <p:cNvSpPr/>
          <p:nvPr/>
        </p:nvSpPr>
        <p:spPr>
          <a:xfrm>
            <a:off x="2442820" y="39319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GPU UTILIZATION</a:t>
            </a:r>
            <a:endParaRPr lang="en-US" sz="1150" dirty="0"/>
          </a:p>
        </p:txBody>
      </p:sp>
      <p:sp>
        <p:nvSpPr>
          <p:cNvPr id="33" name="Shape 31"/>
          <p:cNvSpPr/>
          <p:nvPr/>
        </p:nvSpPr>
        <p:spPr>
          <a:xfrm>
            <a:off x="4929988" y="39319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4" name="Text 32"/>
          <p:cNvSpPr/>
          <p:nvPr/>
        </p:nvSpPr>
        <p:spPr>
          <a:xfrm>
            <a:off x="5003140" y="39319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CACHE HIT RATE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7490308" y="3931920"/>
            <a:ext cx="2331720" cy="457200"/>
          </a:xfrm>
          <a:prstGeom prst="roundRect">
            <a:avLst>
              <a:gd name="adj" fmla="val 50000"/>
            </a:avLst>
          </a:prstGeom>
          <a:solidFill>
            <a:srgbClr val="F1F5F9"/>
          </a:solidFill>
          <a:ln/>
        </p:spPr>
      </p:sp>
      <p:sp>
        <p:nvSpPr>
          <p:cNvPr id="36" name="Text 34"/>
          <p:cNvSpPr/>
          <p:nvPr/>
        </p:nvSpPr>
        <p:spPr>
          <a:xfrm>
            <a:off x="7563460" y="3931920"/>
            <a:ext cx="21854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1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EVENTS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822960" y="4709160"/>
            <a:ext cx="10545775" cy="777240"/>
          </a:xfrm>
          <a:prstGeom prst="roundRect">
            <a:avLst>
              <a:gd name="adj" fmla="val 11765"/>
            </a:avLst>
          </a:prstGeom>
          <a:solidFill>
            <a:srgbClr val="DBEAFE"/>
          </a:solidFill>
          <a:ln/>
        </p:spPr>
      </p:sp>
      <p:sp>
        <p:nvSpPr>
          <p:cNvPr id="38" name="Text 36"/>
          <p:cNvSpPr/>
          <p:nvPr/>
        </p:nvSpPr>
        <p:spPr>
          <a:xfrm>
            <a:off x="896112" y="4709160"/>
            <a:ext cx="10399471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6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optimization is evaluated independently before testing the complete system.</a:t>
            </a:r>
            <a:endParaRPr lang="en-US" sz="1600" dirty="0"/>
          </a:p>
        </p:txBody>
      </p:sp>
      <p:sp>
        <p:nvSpPr>
          <p:cNvPr id="39" name="Text 37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 / 14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Impact &amp; Validation Plan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914400"/>
            <a:ext cx="1109441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Benchmark results are pending controlled hardware testing.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678028" y="15544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0908" y="16642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Throughput vs Concurrent Agents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18508" y="16824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7" name="Text 5"/>
          <p:cNvSpPr/>
          <p:nvPr/>
        </p:nvSpPr>
        <p:spPr>
          <a:xfrm>
            <a:off x="4591660" y="16824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906628" y="2057400"/>
            <a:ext cx="4800600" cy="731520"/>
          </a:xfrm>
          <a:prstGeom prst="rect">
            <a:avLst/>
          </a:prstGeom>
          <a:ln w="12700">
            <a:solidFill>
              <a:srgbClr val="CBD5E1"/>
            </a:solidFill>
            <a:prstDash val="dash"/>
          </a:ln>
        </p:spPr>
      </p:sp>
      <p:sp>
        <p:nvSpPr>
          <p:cNvPr id="9" name="Shape 7"/>
          <p:cNvSpPr/>
          <p:nvPr/>
        </p:nvSpPr>
        <p:spPr>
          <a:xfrm flipV="1">
            <a:off x="998068" y="2148840"/>
            <a:ext cx="4617720" cy="548640"/>
          </a:xfrm>
          <a:prstGeom prst="line">
            <a:avLst/>
          </a:prstGeom>
          <a:noFill/>
          <a:ln w="16510">
            <a:solidFill>
              <a:srgbClr val="CBD5E1"/>
            </a:solidFill>
            <a:prstDash val="dash"/>
          </a:ln>
        </p:spPr>
      </p:sp>
      <p:sp>
        <p:nvSpPr>
          <p:cNvPr id="10" name="Text 8"/>
          <p:cNvSpPr/>
          <p:nvPr/>
        </p:nvSpPr>
        <p:spPr>
          <a:xfrm>
            <a:off x="906628" y="280720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pending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6255868" y="155448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38748" y="166420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Peak VRAM vs Concurrent Agents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10096348" y="168249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14" name="Text 12"/>
          <p:cNvSpPr/>
          <p:nvPr/>
        </p:nvSpPr>
        <p:spPr>
          <a:xfrm>
            <a:off x="10169500" y="168249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6484468" y="2057400"/>
            <a:ext cx="4800600" cy="731520"/>
          </a:xfrm>
          <a:prstGeom prst="rect">
            <a:avLst/>
          </a:prstGeom>
          <a:ln w="12700">
            <a:solidFill>
              <a:srgbClr val="CBD5E1"/>
            </a:solidFill>
            <a:prstDash val="dash"/>
          </a:ln>
        </p:spPr>
      </p:sp>
      <p:sp>
        <p:nvSpPr>
          <p:cNvPr id="16" name="Shape 14"/>
          <p:cNvSpPr/>
          <p:nvPr/>
        </p:nvSpPr>
        <p:spPr>
          <a:xfrm flipV="1">
            <a:off x="6575908" y="2148840"/>
            <a:ext cx="4617720" cy="548640"/>
          </a:xfrm>
          <a:prstGeom prst="line">
            <a:avLst/>
          </a:prstGeom>
          <a:noFill/>
          <a:ln w="16510">
            <a:solidFill>
              <a:srgbClr val="CBD5E1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6484468" y="280720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pending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78028" y="32004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60908" y="3310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TTFT: With vs Without Prefix Cache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4518508" y="33284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1" name="Text 19"/>
          <p:cNvSpPr/>
          <p:nvPr/>
        </p:nvSpPr>
        <p:spPr>
          <a:xfrm>
            <a:off x="4591660" y="33284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MEASURED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906628" y="3703320"/>
            <a:ext cx="4800600" cy="731520"/>
          </a:xfrm>
          <a:prstGeom prst="rect">
            <a:avLst/>
          </a:prstGeom>
          <a:ln w="12700">
            <a:solidFill>
              <a:srgbClr val="CBD5E1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 flipV="1">
            <a:off x="998068" y="3794760"/>
            <a:ext cx="4617720" cy="548640"/>
          </a:xfrm>
          <a:prstGeom prst="line">
            <a:avLst/>
          </a:prstGeom>
          <a:noFill/>
          <a:ln w="16510">
            <a:solidFill>
              <a:srgbClr val="CBD5E1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906628" y="44531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pending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255868" y="3200400"/>
            <a:ext cx="5257800" cy="1417320"/>
          </a:xfrm>
          <a:prstGeom prst="roundRect">
            <a:avLst>
              <a:gd name="adj" fmla="val 6452"/>
            </a:avLst>
          </a:prstGeom>
          <a:solidFill>
            <a:srgbClr val="FFFFFF"/>
          </a:solidFill>
          <a:ln w="1524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38748" y="3310128"/>
            <a:ext cx="3794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OOM Events Under Stress</a:t>
            </a:r>
            <a:endParaRPr lang="en-US" sz="1250" dirty="0"/>
          </a:p>
        </p:txBody>
      </p:sp>
      <p:sp>
        <p:nvSpPr>
          <p:cNvPr id="27" name="Shape 25"/>
          <p:cNvSpPr/>
          <p:nvPr/>
        </p:nvSpPr>
        <p:spPr>
          <a:xfrm>
            <a:off x="10096348" y="3328416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FFEDD5"/>
          </a:solidFill>
          <a:ln/>
        </p:spPr>
      </p:sp>
      <p:sp>
        <p:nvSpPr>
          <p:cNvPr id="28" name="Text 26"/>
          <p:cNvSpPr/>
          <p:nvPr/>
        </p:nvSpPr>
        <p:spPr>
          <a:xfrm>
            <a:off x="10169500" y="3328416"/>
            <a:ext cx="10881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00" b="1" dirty="0">
                <a:solidFill>
                  <a:srgbClr val="EA58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 BE MEASURED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484468" y="3703320"/>
            <a:ext cx="4800600" cy="731520"/>
          </a:xfrm>
          <a:prstGeom prst="rect">
            <a:avLst/>
          </a:prstGeom>
          <a:ln w="12700">
            <a:solidFill>
              <a:srgbClr val="CBD5E1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 flipV="1">
            <a:off x="6575908" y="3794760"/>
            <a:ext cx="4617720" cy="548640"/>
          </a:xfrm>
          <a:prstGeom prst="line">
            <a:avLst/>
          </a:prstGeom>
          <a:noFill/>
          <a:ln w="16510">
            <a:solidFill>
              <a:srgbClr val="CBD5E1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6484468" y="4453128"/>
            <a:ext cx="4800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Experimental results pending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99720" y="49377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3" name="Text 31"/>
          <p:cNvSpPr/>
          <p:nvPr/>
        </p:nvSpPr>
        <p:spPr>
          <a:xfrm>
            <a:off x="572872" y="49377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LOCAL AI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2767432" y="49377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5" name="Text 33"/>
          <p:cNvSpPr/>
          <p:nvPr/>
        </p:nvSpPr>
        <p:spPr>
          <a:xfrm>
            <a:off x="2840584" y="49377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 HARDWARE REQUIREMENTS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035144" y="49377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7" name="Text 35"/>
          <p:cNvSpPr/>
          <p:nvPr/>
        </p:nvSpPr>
        <p:spPr>
          <a:xfrm>
            <a:off x="5108296" y="49377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CONCURRENCY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7302856" y="49377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39" name="Text 37"/>
          <p:cNvSpPr/>
          <p:nvPr/>
        </p:nvSpPr>
        <p:spPr>
          <a:xfrm>
            <a:off x="7376008" y="49377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PREDICTABLE MEMORY</a:t>
            </a:r>
            <a:endParaRPr lang="en-US" sz="950" dirty="0"/>
          </a:p>
        </p:txBody>
      </p:sp>
      <p:sp>
        <p:nvSpPr>
          <p:cNvPr id="40" name="Shape 38"/>
          <p:cNvSpPr/>
          <p:nvPr/>
        </p:nvSpPr>
        <p:spPr>
          <a:xfrm>
            <a:off x="9570568" y="4937760"/>
            <a:ext cx="2121408" cy="45720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/>
        </p:spPr>
      </p:sp>
      <p:sp>
        <p:nvSpPr>
          <p:cNvPr id="41" name="Text 39"/>
          <p:cNvSpPr/>
          <p:nvPr/>
        </p:nvSpPr>
        <p:spPr>
          <a:xfrm>
            <a:off x="9643720" y="4937760"/>
            <a:ext cx="19751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9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EDGE DEPLOYMENT</a:t>
            </a:r>
            <a:endParaRPr lang="en-US" sz="950" dirty="0"/>
          </a:p>
        </p:txBody>
      </p:sp>
      <p:sp>
        <p:nvSpPr>
          <p:cNvPr id="42" name="Text 40"/>
          <p:cNvSpPr/>
          <p:nvPr/>
        </p:nvSpPr>
        <p:spPr>
          <a:xfrm>
            <a:off x="548640" y="5596128"/>
            <a:ext cx="110944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Bigger Models to Smarter Inference.</a:t>
            </a:r>
            <a:endParaRPr lang="en-US" sz="2200" dirty="0"/>
          </a:p>
        </p:txBody>
      </p:sp>
      <p:sp>
        <p:nvSpPr>
          <p:cNvPr id="43" name="Text 41"/>
          <p:cNvSpPr/>
          <p:nvPr/>
        </p:nvSpPr>
        <p:spPr>
          <a:xfrm>
            <a:off x="822960" y="6053328"/>
            <a:ext cx="105457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 makes multi-agent LLM inference more practical on severely constrained local hardware.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457200" y="6556248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spc="100" kern="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OPTISERVE-EDGE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11002975" y="6556248"/>
            <a:ext cx="7315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 / 14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OptiServe-Edge</dc:title>
  <dc:subject>PptxGenJS Presentation</dc:subject>
  <dc:creator>OptiServe-Edge Team</dc:creator>
  <cp:lastModifiedBy>OptiServe-Edge Team</cp:lastModifiedBy>
  <cp:revision>1</cp:revision>
  <dcterms:created xsi:type="dcterms:W3CDTF">2026-09-06T18:43:28Z</dcterms:created>
  <dcterms:modified xsi:type="dcterms:W3CDTF">2026-09-06T18:43:28Z</dcterms:modified>
</cp:coreProperties>
</file>